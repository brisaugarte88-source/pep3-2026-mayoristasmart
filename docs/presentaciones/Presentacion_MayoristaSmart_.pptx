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3087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515600" y="411480"/>
            <a:ext cx="1005840" cy="1005840"/>
          </a:xfrm>
          <a:prstGeom prst="ellipse">
            <a:avLst/>
          </a:prstGeom>
          <a:solidFill>
            <a:srgbClr val="F2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1097280"/>
            <a:ext cx="502920" cy="502920"/>
          </a:xfrm>
          <a:prstGeom prst="ellipse">
            <a:avLst/>
          </a:prstGeom>
          <a:solidFill>
            <a:srgbClr val="D3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0040" y="5669280"/>
            <a:ext cx="731520" cy="731520"/>
          </a:xfrm>
          <a:prstGeom prst="ellipse">
            <a:avLst/>
          </a:prstGeom>
          <a:solidFill>
            <a:srgbClr val="F2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772B4D"/>
                </a:solidFill>
                <a:latin typeface="Times New Roman"/>
              </a:defRPr>
            </a:pPr>
            <a:r>
              <a:rPr>
                <a:latin typeface="Times New Roman"/>
              </a:rPr>
              <a:t>MAYORISTA SMART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874519"/>
            <a:ext cx="9875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A2D33"/>
                </a:solidFill>
                <a:latin typeface="Times New Roman"/>
              </a:defRPr>
            </a:pPr>
            <a:r>
              <a:rPr>
                <a:latin typeface="Times New Roman"/>
              </a:rPr>
              <a:t>Sistema inteligente de análisis estadístico,</a:t>
            </a:r>
            <a:br/>
            <a:r>
              <a:rPr>
                <a:latin typeface="Times New Roman"/>
              </a:rPr>
              <a:t>predicción de ventas y apoyo a la toma de decisiones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3703320"/>
            <a:ext cx="83210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920240" y="3703320"/>
            <a:ext cx="64008" cy="1600200"/>
          </a:xfrm>
          <a:prstGeom prst="rect">
            <a:avLst/>
          </a:prstGeom>
          <a:solidFill>
            <a:srgbClr val="D3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03120" y="3849624"/>
            <a:ext cx="8001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772B4D"/>
                </a:solidFill>
                <a:latin typeface="Times New Roman"/>
              </a:defRPr>
            </a:pPr>
            <a:r>
              <a:rPr>
                <a:latin typeface="Times New Roman"/>
              </a:rPr>
              <a:t>Equipo Smart Solutions</a:t>
            </a:r>
          </a:p>
          <a:p>
            <a:pPr>
              <a:defRPr sz="1500">
                <a:solidFill>
                  <a:srgbClr val="3A2D33"/>
                </a:solidFill>
                <a:latin typeface="Times New Roman"/>
              </a:defRPr>
            </a:pPr>
            <a:r>
              <a:rPr>
                <a:latin typeface="Times New Roman"/>
              </a:rPr>
              <a:t>Brisa Desireé Ugarte Rocabado  •  Ariel Montaño Buezo</a:t>
            </a:r>
            <a:br/>
            <a:r>
              <a:rPr>
                <a:latin typeface="Times New Roman"/>
              </a:rPr>
              <a:t>Erick Abimael Quispe Miranda</a:t>
            </a:r>
            <a:br/>
            <a:r>
              <a:rPr>
                <a:latin typeface="Times New Roman"/>
              </a:rPr>
              <a:t>Probabilidad y Estadística  •  Paralelo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E5B63"/>
                </a:solidFill>
                <a:latin typeface="Times New Roman"/>
              </a:defRPr>
            </a:pPr>
            <a:r>
              <a:rPr>
                <a:latin typeface="Times New Roman"/>
              </a:rPr>
              <a:t>Mayorista Smart  •  Smart Solutions                                           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772B4D"/>
                </a:solidFill>
                <a:latin typeface="Times New Roman"/>
              </a:defRPr>
            </a:pPr>
            <a:r>
              <a:rPr>
                <a:latin typeface="Times New Roman"/>
              </a:rPr>
              <a:t>1. Problema, necesidad y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E5B63"/>
                </a:solidFill>
                <a:latin typeface="Times New Roman"/>
              </a:defRPr>
            </a:pPr>
            <a:r>
              <a:rPr>
                <a:latin typeface="Times New Roman"/>
              </a:rPr>
              <a:t>La propuesta nace de una necesidad concreta del negocio.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74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1965960"/>
          </a:xfrm>
          <a:prstGeom prst="rect">
            <a:avLst/>
          </a:prstGeom>
          <a:solidFill>
            <a:srgbClr val="D3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472184"/>
            <a:ext cx="315467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772B4D"/>
                </a:solidFill>
                <a:latin typeface="Times New Roman"/>
              </a:defRPr>
            </a:pPr>
            <a:r>
              <a:rPr>
                <a:latin typeface="Times New Roman"/>
              </a:rPr>
              <a:t>Problema</a:t>
            </a:r>
          </a:p>
          <a:p>
            <a:pPr>
              <a:defRPr sz="1350">
                <a:solidFill>
                  <a:srgbClr val="3A2D33"/>
                </a:solidFill>
                <a:latin typeface="Times New Roman"/>
              </a:defRPr>
            </a:pPr>
            <a:r>
              <a:rPr>
                <a:latin typeface="Times New Roman"/>
              </a:rPr>
              <a:t>Los datos de ventas e inventario pueden quedar solo como registros. Sin análisis es más difícil detectar tendencias, variaciones, productos con poco movimiento o riesgo de quedarse sin stock.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325880"/>
            <a:ext cx="3474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61688" y="1325880"/>
            <a:ext cx="64008" cy="1965960"/>
          </a:xfrm>
          <a:prstGeom prst="rect">
            <a:avLst/>
          </a:prstGeom>
          <a:solidFill>
            <a:srgbClr val="D3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44568" y="1472184"/>
            <a:ext cx="315467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772B4D"/>
                </a:solidFill>
                <a:latin typeface="Times New Roman"/>
              </a:defRPr>
            </a:pPr>
            <a:r>
              <a:rPr>
                <a:latin typeface="Times New Roman"/>
              </a:rPr>
              <a:t>Necesidad del negocio</a:t>
            </a:r>
          </a:p>
          <a:p>
            <a:pPr>
              <a:defRPr sz="1350">
                <a:solidFill>
                  <a:srgbClr val="3A2D33"/>
                </a:solidFill>
                <a:latin typeface="Times New Roman"/>
              </a:defRPr>
            </a:pPr>
            <a:r>
              <a:rPr>
                <a:latin typeface="Times New Roman"/>
              </a:rPr>
              <a:t>Organizar productos, registrar ventas, actualizar el inventario, detectar stock bajo y contar con reportes y gráficos fáciles de interpretar.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325880"/>
            <a:ext cx="3474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83296" y="1325880"/>
            <a:ext cx="64008" cy="1965960"/>
          </a:xfrm>
          <a:prstGeom prst="rect">
            <a:avLst/>
          </a:prstGeom>
          <a:solidFill>
            <a:srgbClr val="D3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66175" y="1472184"/>
            <a:ext cx="315467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772B4D"/>
                </a:solidFill>
                <a:latin typeface="Times New Roman"/>
              </a:defRPr>
            </a:pPr>
            <a:r>
              <a:rPr>
                <a:latin typeface="Times New Roman"/>
              </a:rPr>
              <a:t>Entrevista</a:t>
            </a:r>
          </a:p>
          <a:p>
            <a:pPr>
              <a:defRPr sz="1350">
                <a:solidFill>
                  <a:srgbClr val="3A2D33"/>
                </a:solidFill>
                <a:latin typeface="Times New Roman"/>
              </a:defRPr>
            </a:pPr>
            <a:r>
              <a:rPr>
                <a:latin typeface="Times New Roman"/>
              </a:rPr>
              <a:t>Denise Rocabado señaló la importancia de tener productos ordenados, descuento automático de stock, alertas, reportes y gráficos para conocer mejor las ventas.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11880"/>
            <a:ext cx="52578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611880"/>
            <a:ext cx="64008" cy="1828800"/>
          </a:xfrm>
          <a:prstGeom prst="rect">
            <a:avLst/>
          </a:prstGeom>
          <a:solidFill>
            <a:srgbClr val="D3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" y="3758184"/>
            <a:ext cx="4937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772B4D"/>
                </a:solidFill>
                <a:latin typeface="Times New Roman"/>
              </a:defRPr>
            </a:pPr>
            <a:r>
              <a:rPr>
                <a:latin typeface="Times New Roman"/>
              </a:rPr>
              <a:t>Objetivo general</a:t>
            </a:r>
          </a:p>
          <a:p>
            <a:pPr>
              <a:defRPr sz="1400">
                <a:solidFill>
                  <a:srgbClr val="3A2D33"/>
                </a:solidFill>
                <a:latin typeface="Times New Roman"/>
              </a:defRPr>
            </a:pPr>
            <a:r>
              <a:rPr>
                <a:latin typeface="Times New Roman"/>
              </a:rPr>
              <a:t>Desarrollar una propuesta de sistema que registre y organice datos de ventas e inventario para analizarlos con Probabilidad y Estadística y visualizarlos mediante Apache Superset.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3912" y="3611880"/>
            <a:ext cx="5404104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53912" y="3611880"/>
            <a:ext cx="64008" cy="1828800"/>
          </a:xfrm>
          <a:prstGeom prst="rect">
            <a:avLst/>
          </a:prstGeom>
          <a:solidFill>
            <a:srgbClr val="D3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36792" y="3758184"/>
            <a:ext cx="508406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772B4D"/>
                </a:solidFill>
                <a:latin typeface="Times New Roman"/>
              </a:defRPr>
            </a:pPr>
            <a:r>
              <a:rPr>
                <a:latin typeface="Times New Roman"/>
              </a:rPr>
              <a:t>Objetivos específicos clave</a:t>
            </a:r>
          </a:p>
          <a:p>
            <a:pPr>
              <a:defRPr sz="1300">
                <a:solidFill>
                  <a:srgbClr val="3A2D33"/>
                </a:solidFill>
                <a:latin typeface="Times New Roman"/>
              </a:defRPr>
            </a:pPr>
            <a:r>
              <a:rPr>
                <a:latin typeface="Times New Roman"/>
              </a:rPr>
              <a:t>• Registrar productos, ventas e inventario.</a:t>
            </a:r>
            <a:br/>
            <a:r>
              <a:rPr>
                <a:latin typeface="Times New Roman"/>
              </a:rPr>
              <a:t>• Calcular medidas estadísticas y probabilidades.</a:t>
            </a:r>
            <a:br/>
            <a:r>
              <a:rPr>
                <a:latin typeface="Times New Roman"/>
              </a:rPr>
              <a:t>• Visualizar resultados en gráficos, tablas e indicadores.</a:t>
            </a:r>
            <a:br/>
            <a:r>
              <a:rPr>
                <a:latin typeface="Times New Roman"/>
              </a:rPr>
              <a:t>• Apoyar decisiones relacionadas con ventas y stock.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E5B63"/>
                </a:solidFill>
                <a:latin typeface="Times New Roman"/>
              </a:defRPr>
            </a:pPr>
            <a:r>
              <a:rPr>
                <a:latin typeface="Times New Roman"/>
              </a:rPr>
              <a:t>Mayorista Smart  •  Smart Solutions                                           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772B4D"/>
                </a:solidFill>
                <a:latin typeface="Times New Roman"/>
              </a:defRPr>
            </a:pPr>
            <a:r>
              <a:rPr>
                <a:latin typeface="Times New Roman"/>
              </a:rPr>
              <a:t>2. Diseño propuesto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E5B63"/>
                </a:solidFill>
                <a:latin typeface="Times New Roman"/>
              </a:defRPr>
            </a:pPr>
            <a:r>
              <a:rPr>
                <a:latin typeface="Times New Roman"/>
              </a:rPr>
              <a:t>Así imaginamos la interfaz de Mayorista Smart; la imagen es un prototipo/diseño referencial.</a:t>
            </a:r>
          </a:p>
        </p:txBody>
      </p:sp>
      <p:pic>
        <p:nvPicPr>
          <p:cNvPr id="5" name="Picture 4" descr="47109851-8052-4400-b903-dc4d4e7e09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98448"/>
            <a:ext cx="7452360" cy="389051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75320" y="1353312"/>
            <a:ext cx="3246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75320" y="1353312"/>
            <a:ext cx="64008" cy="1234440"/>
          </a:xfrm>
          <a:prstGeom prst="rect">
            <a:avLst/>
          </a:prstGeom>
          <a:solidFill>
            <a:srgbClr val="D3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58200" y="1499616"/>
            <a:ext cx="29260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772B4D"/>
                </a:solidFill>
                <a:latin typeface="Times New Roman"/>
              </a:defRPr>
            </a:pPr>
            <a:r>
              <a:rPr>
                <a:latin typeface="Times New Roman"/>
              </a:rPr>
              <a:t>Módulos principales</a:t>
            </a:r>
          </a:p>
          <a:p>
            <a:pPr>
              <a:defRPr sz="1250">
                <a:solidFill>
                  <a:srgbClr val="3A2D33"/>
                </a:solidFill>
                <a:latin typeface="Times New Roman"/>
              </a:defRPr>
            </a:pPr>
            <a:r>
              <a:rPr>
                <a:latin typeface="Times New Roman"/>
              </a:rPr>
              <a:t>Inicio • Productos • Ventas</a:t>
            </a:r>
            <a:br/>
            <a:r>
              <a:rPr>
                <a:latin typeface="Times New Roman"/>
              </a:rPr>
              <a:t>Inventario • Clientes • Reportes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278892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75320" y="2788920"/>
            <a:ext cx="64008" cy="1325880"/>
          </a:xfrm>
          <a:prstGeom prst="rect">
            <a:avLst/>
          </a:prstGeom>
          <a:solidFill>
            <a:srgbClr val="D3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58200" y="2935224"/>
            <a:ext cx="2926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772B4D"/>
                </a:solidFill>
                <a:latin typeface="Times New Roman"/>
              </a:defRPr>
            </a:pPr>
            <a:r>
              <a:rPr>
                <a:latin typeface="Times New Roman"/>
              </a:rPr>
              <a:t>Parte estadística</a:t>
            </a:r>
          </a:p>
          <a:p>
            <a:pPr>
              <a:defRPr sz="1250">
                <a:solidFill>
                  <a:srgbClr val="3A2D33"/>
                </a:solidFill>
                <a:latin typeface="Times New Roman"/>
              </a:defRPr>
            </a:pPr>
            <a:r>
              <a:rPr>
                <a:latin typeface="Times New Roman"/>
              </a:rPr>
              <a:t>Estadísticas, gráficos, indicadores y consultas sobre ventas e inventario.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4315968"/>
            <a:ext cx="3246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75320" y="4315968"/>
            <a:ext cx="64008" cy="1417320"/>
          </a:xfrm>
          <a:prstGeom prst="rect">
            <a:avLst/>
          </a:prstGeom>
          <a:solidFill>
            <a:srgbClr val="D3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4462272"/>
            <a:ext cx="29260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772B4D"/>
                </a:solidFill>
                <a:latin typeface="Times New Roman"/>
              </a:defRPr>
            </a:pPr>
            <a:r>
              <a:rPr>
                <a:latin typeface="Times New Roman"/>
              </a:rPr>
              <a:t>Tecnología</a:t>
            </a:r>
          </a:p>
          <a:p>
            <a:pPr>
              <a:defRPr sz="1250">
                <a:solidFill>
                  <a:srgbClr val="3A2D33"/>
                </a:solidFill>
                <a:latin typeface="Times New Roman"/>
              </a:defRPr>
            </a:pPr>
            <a:r>
              <a:rPr>
                <a:latin typeface="Times New Roman"/>
              </a:rPr>
              <a:t>C# + .NET + Windows Forms + Visual Studio</a:t>
            </a:r>
            <a:br/>
            <a:r>
              <a:rPr>
                <a:latin typeface="Times New Roman"/>
              </a:rPr>
              <a:t>Base de datos + Apache Superset.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E5B63"/>
                </a:solidFill>
                <a:latin typeface="Times New Roman"/>
              </a:defRPr>
            </a:pPr>
            <a:r>
              <a:rPr>
                <a:latin typeface="Times New Roman"/>
              </a:rPr>
              <a:t>Mayorista Smart  •  Smart Solutions                                           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772B4D"/>
                </a:solidFill>
                <a:latin typeface="Times New Roman"/>
              </a:defRPr>
            </a:pPr>
            <a:r>
              <a:rPr>
                <a:latin typeface="Times New Roman"/>
              </a:rPr>
              <a:t>3. ¿Dónde aplicamos Probabilidad y Estadística?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E5B63"/>
                </a:solidFill>
                <a:latin typeface="Times New Roman"/>
              </a:defRPr>
            </a:pPr>
            <a:r>
              <a:rPr>
                <a:latin typeface="Times New Roman"/>
              </a:rPr>
              <a:t>Las medidas estadísticas permiten interpretar el comportamiento de las ventas.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98448"/>
            <a:ext cx="342900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98448"/>
            <a:ext cx="64008" cy="1353312"/>
          </a:xfrm>
          <a:prstGeom prst="rect">
            <a:avLst/>
          </a:prstGeom>
          <a:solidFill>
            <a:srgbClr val="D3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444751"/>
            <a:ext cx="310896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772B4D"/>
                </a:solidFill>
                <a:latin typeface="Times New Roman"/>
              </a:defRPr>
            </a:pPr>
            <a:r>
              <a:rPr>
                <a:latin typeface="Times New Roman"/>
              </a:rPr>
              <a:t>Media</a:t>
            </a:r>
          </a:p>
          <a:p>
            <a:pPr>
              <a:defRPr sz="1180">
                <a:solidFill>
                  <a:srgbClr val="3A2D33"/>
                </a:solidFill>
                <a:latin typeface="Times New Roman"/>
              </a:defRPr>
            </a:pPr>
            <a:r>
              <a:rPr>
                <a:latin typeface="Times New Roman"/>
              </a:rPr>
              <a:t>Promedio de ventas en un periodo. Ej.: (10+15+12+13+20)/5 = 14 unidades.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298448"/>
            <a:ext cx="342900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70832" y="1298448"/>
            <a:ext cx="64008" cy="1353312"/>
          </a:xfrm>
          <a:prstGeom prst="rect">
            <a:avLst/>
          </a:prstGeom>
          <a:solidFill>
            <a:srgbClr val="D3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444751"/>
            <a:ext cx="310896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772B4D"/>
                </a:solidFill>
                <a:latin typeface="Times New Roman"/>
              </a:defRPr>
            </a:pPr>
            <a:r>
              <a:rPr>
                <a:latin typeface="Times New Roman"/>
              </a:rPr>
              <a:t>Mediana y moda</a:t>
            </a:r>
          </a:p>
          <a:p>
            <a:pPr>
              <a:defRPr sz="1180">
                <a:solidFill>
                  <a:srgbClr val="3A2D33"/>
                </a:solidFill>
                <a:latin typeface="Times New Roman"/>
              </a:defRPr>
            </a:pPr>
            <a:r>
              <a:rPr>
                <a:latin typeface="Times New Roman"/>
              </a:rPr>
              <a:t>Mediana: valor central. Moda: valor que más se repite. Ayudan a describir el comportamiento de los datos.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298448"/>
            <a:ext cx="342900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01583" y="1298448"/>
            <a:ext cx="64008" cy="1353312"/>
          </a:xfrm>
          <a:prstGeom prst="rect">
            <a:avLst/>
          </a:prstGeom>
          <a:solidFill>
            <a:srgbClr val="D3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84463" y="1444751"/>
            <a:ext cx="310896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772B4D"/>
                </a:solidFill>
                <a:latin typeface="Times New Roman"/>
              </a:defRPr>
            </a:pPr>
            <a:r>
              <a:rPr>
                <a:latin typeface="Times New Roman"/>
              </a:rPr>
              <a:t>Varianza y desviación</a:t>
            </a:r>
          </a:p>
          <a:p>
            <a:pPr>
              <a:defRPr sz="1180">
                <a:solidFill>
                  <a:srgbClr val="3A2D33"/>
                </a:solidFill>
                <a:latin typeface="Times New Roman"/>
              </a:defRPr>
            </a:pPr>
            <a:r>
              <a:rPr>
                <a:latin typeface="Times New Roman"/>
              </a:rPr>
              <a:t>Miden la variación o dispersión de las ventas respecto al promedio.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44368"/>
            <a:ext cx="523036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2944368"/>
            <a:ext cx="64008" cy="1572768"/>
          </a:xfrm>
          <a:prstGeom prst="rect">
            <a:avLst/>
          </a:prstGeom>
          <a:solidFill>
            <a:srgbClr val="D3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" y="3090672"/>
            <a:ext cx="4910328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772B4D"/>
                </a:solidFill>
                <a:latin typeface="Times New Roman"/>
              </a:defRPr>
            </a:pPr>
            <a:r>
              <a:rPr>
                <a:latin typeface="Times New Roman"/>
              </a:rPr>
              <a:t>Frecuencias</a:t>
            </a:r>
          </a:p>
          <a:p>
            <a:pPr>
              <a:defRPr sz="1300">
                <a:solidFill>
                  <a:srgbClr val="3A2D33"/>
                </a:solidFill>
                <a:latin typeface="Times New Roman"/>
              </a:defRPr>
            </a:pPr>
            <a:r>
              <a:rPr>
                <a:latin typeface="Times New Roman"/>
              </a:rPr>
              <a:t>Permiten saber cuántas veces se vende un producto y qué porcentaje representa. Ej.: 25 ventas de 100 = 25 %.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3912" y="2944368"/>
            <a:ext cx="537667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53912" y="2944368"/>
            <a:ext cx="64008" cy="1572768"/>
          </a:xfrm>
          <a:prstGeom prst="rect">
            <a:avLst/>
          </a:prstGeom>
          <a:solidFill>
            <a:srgbClr val="D3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36792" y="3090672"/>
            <a:ext cx="5056632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772B4D"/>
                </a:solidFill>
                <a:latin typeface="Times New Roman"/>
              </a:defRPr>
            </a:pPr>
            <a:r>
              <a:rPr>
                <a:latin typeface="Times New Roman"/>
              </a:rPr>
              <a:t>Probabilidad histórica</a:t>
            </a:r>
          </a:p>
          <a:p>
            <a:pPr>
              <a:defRPr sz="1300">
                <a:solidFill>
                  <a:srgbClr val="3A2D33"/>
                </a:solidFill>
                <a:latin typeface="Times New Roman"/>
              </a:defRPr>
            </a:pPr>
            <a:r>
              <a:rPr>
                <a:latin typeface="Times New Roman"/>
              </a:rPr>
              <a:t>Si un producto se vendió 24 de los últimos 30 días: P = 24/30 = 0,80 = 80 %. Es una probabilidad basada en los datos históricos registrados.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773168"/>
            <a:ext cx="1089050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4773168"/>
            <a:ext cx="64008" cy="960120"/>
          </a:xfrm>
          <a:prstGeom prst="rect">
            <a:avLst/>
          </a:prstGeom>
          <a:solidFill>
            <a:srgbClr val="D3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59" y="4919472"/>
            <a:ext cx="1057046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772B4D"/>
                </a:solidFill>
                <a:latin typeface="Times New Roman"/>
              </a:defRPr>
            </a:pPr>
            <a:r>
              <a:rPr>
                <a:latin typeface="Times New Roman"/>
              </a:rPr>
              <a:t>¿Para qué sirve?</a:t>
            </a:r>
          </a:p>
          <a:p>
            <a:pPr>
              <a:defRPr sz="1300">
                <a:solidFill>
                  <a:srgbClr val="3A2D33"/>
                </a:solidFill>
                <a:latin typeface="Times New Roman"/>
              </a:defRPr>
            </a:pPr>
            <a:r>
              <a:rPr>
                <a:latin typeface="Times New Roman"/>
              </a:rPr>
              <a:t>Identificar productos de mayor/menor movimiento, observar variaciones, analizar el inventario y apoyar decisiones de reposición.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E5B63"/>
                </a:solidFill>
                <a:latin typeface="Times New Roman"/>
              </a:defRPr>
            </a:pPr>
            <a:r>
              <a:rPr>
                <a:latin typeface="Times New Roman"/>
              </a:rPr>
              <a:t>Mayorista Smart  •  Smart Solutions                                           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772B4D"/>
                </a:solidFill>
                <a:latin typeface="Times New Roman"/>
              </a:defRPr>
            </a:pPr>
            <a:r>
              <a:rPr>
                <a:latin typeface="Times New Roman"/>
              </a:rPr>
              <a:t>4. Flujo de datos, Apache Superset y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E5B63"/>
                </a:solidFill>
                <a:latin typeface="Times New Roman"/>
              </a:defRPr>
            </a:pPr>
            <a:r>
              <a:rPr>
                <a:latin typeface="Times New Roman"/>
              </a:rPr>
              <a:t>El punto fuerte es convertir registros en información visual para decidir.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53312"/>
            <a:ext cx="190195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F2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94360" y="1536192"/>
            <a:ext cx="384048" cy="384048"/>
          </a:xfrm>
          <a:prstGeom prst="ellipse">
            <a:avLst/>
          </a:prstGeom>
          <a:solidFill>
            <a:srgbClr val="D3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72768"/>
            <a:ext cx="3840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1536192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772B4D"/>
                </a:solidFill>
                <a:latin typeface="Times New Roman"/>
              </a:defRPr>
            </a:pPr>
            <a:r>
              <a:rPr>
                <a:latin typeface="Times New Roman"/>
              </a:rPr>
              <a:t>Productos y ventas</a:t>
            </a:r>
          </a:p>
        </p:txBody>
      </p:sp>
      <p:sp>
        <p:nvSpPr>
          <p:cNvPr id="9" name="Chevron 8"/>
          <p:cNvSpPr/>
          <p:nvPr/>
        </p:nvSpPr>
        <p:spPr>
          <a:xfrm>
            <a:off x="2478024" y="1664208"/>
            <a:ext cx="256032" cy="384048"/>
          </a:xfrm>
          <a:prstGeom prst="chevron">
            <a:avLst/>
          </a:prstGeom>
          <a:solidFill>
            <a:srgbClr val="F2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834639" y="1353312"/>
            <a:ext cx="190195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F2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926079" y="1536192"/>
            <a:ext cx="384048" cy="384048"/>
          </a:xfrm>
          <a:prstGeom prst="ellipse">
            <a:avLst/>
          </a:prstGeom>
          <a:solidFill>
            <a:srgbClr val="D3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79" y="1572768"/>
            <a:ext cx="3840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1" y="1536192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772B4D"/>
                </a:solidFill>
                <a:latin typeface="Times New Roman"/>
              </a:defRPr>
            </a:pPr>
            <a:r>
              <a:rPr>
                <a:latin typeface="Times New Roman"/>
              </a:rPr>
              <a:t>Base de datos</a:t>
            </a:r>
          </a:p>
        </p:txBody>
      </p:sp>
      <p:sp>
        <p:nvSpPr>
          <p:cNvPr id="14" name="Chevron 13"/>
          <p:cNvSpPr/>
          <p:nvPr/>
        </p:nvSpPr>
        <p:spPr>
          <a:xfrm>
            <a:off x="4809744" y="1664208"/>
            <a:ext cx="256032" cy="384048"/>
          </a:xfrm>
          <a:prstGeom prst="chevron">
            <a:avLst/>
          </a:prstGeom>
          <a:solidFill>
            <a:srgbClr val="F2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66359" y="1353312"/>
            <a:ext cx="190195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F2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257799" y="1536192"/>
            <a:ext cx="384048" cy="384048"/>
          </a:xfrm>
          <a:prstGeom prst="ellipse">
            <a:avLst/>
          </a:prstGeom>
          <a:solidFill>
            <a:srgbClr val="D3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57799" y="1572768"/>
            <a:ext cx="3840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96712" y="1536192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772B4D"/>
                </a:solidFill>
                <a:latin typeface="Times New Roman"/>
              </a:defRPr>
            </a:pPr>
            <a:r>
              <a:rPr>
                <a:latin typeface="Times New Roman"/>
              </a:rPr>
              <a:t>Apache Superset</a:t>
            </a:r>
          </a:p>
        </p:txBody>
      </p:sp>
      <p:sp>
        <p:nvSpPr>
          <p:cNvPr id="19" name="Chevron 18"/>
          <p:cNvSpPr/>
          <p:nvPr/>
        </p:nvSpPr>
        <p:spPr>
          <a:xfrm>
            <a:off x="7141464" y="1664208"/>
            <a:ext cx="256032" cy="384048"/>
          </a:xfrm>
          <a:prstGeom prst="chevron">
            <a:avLst/>
          </a:prstGeom>
          <a:solidFill>
            <a:srgbClr val="F2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98079" y="1353312"/>
            <a:ext cx="190195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F2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589519" y="1536192"/>
            <a:ext cx="384048" cy="384048"/>
          </a:xfrm>
          <a:prstGeom prst="ellipse">
            <a:avLst/>
          </a:prstGeom>
          <a:solidFill>
            <a:srgbClr val="D3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19" y="1572768"/>
            <a:ext cx="3840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8431" y="1536192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772B4D"/>
                </a:solidFill>
                <a:latin typeface="Times New Roman"/>
              </a:defRPr>
            </a:pPr>
            <a:r>
              <a:rPr>
                <a:latin typeface="Times New Roman"/>
              </a:rPr>
              <a:t>Gráficos e indicadores</a:t>
            </a:r>
          </a:p>
        </p:txBody>
      </p:sp>
      <p:sp>
        <p:nvSpPr>
          <p:cNvPr id="24" name="Chevron 23"/>
          <p:cNvSpPr/>
          <p:nvPr/>
        </p:nvSpPr>
        <p:spPr>
          <a:xfrm>
            <a:off x="9473184" y="1664208"/>
            <a:ext cx="256032" cy="384048"/>
          </a:xfrm>
          <a:prstGeom prst="chevron">
            <a:avLst/>
          </a:prstGeom>
          <a:solidFill>
            <a:srgbClr val="F2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829800" y="1353312"/>
            <a:ext cx="190195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F2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921240" y="1536192"/>
            <a:ext cx="384048" cy="384048"/>
          </a:xfrm>
          <a:prstGeom prst="ellipse">
            <a:avLst/>
          </a:prstGeom>
          <a:solidFill>
            <a:srgbClr val="D3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21240" y="1572768"/>
            <a:ext cx="3840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60152" y="1536192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772B4D"/>
                </a:solidFill>
                <a:latin typeface="Times New Roman"/>
              </a:defRPr>
            </a:pPr>
            <a:r>
              <a:rPr>
                <a:latin typeface="Times New Roman"/>
              </a:rPr>
              <a:t>Decisión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278892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" y="2788920"/>
            <a:ext cx="64008" cy="2240280"/>
          </a:xfrm>
          <a:prstGeom prst="rect">
            <a:avLst/>
          </a:prstGeom>
          <a:solidFill>
            <a:srgbClr val="D3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59" y="2935224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772B4D"/>
                </a:solidFill>
                <a:latin typeface="Times New Roman"/>
              </a:defRPr>
            </a:pPr>
            <a:r>
              <a:rPr>
                <a:latin typeface="Times New Roman"/>
              </a:rPr>
              <a:t>¿Qué puede mostrar Superset?</a:t>
            </a:r>
          </a:p>
          <a:p>
            <a:pPr>
              <a:defRPr sz="1300">
                <a:solidFill>
                  <a:srgbClr val="3A2D33"/>
                </a:solidFill>
                <a:latin typeface="Times New Roman"/>
              </a:defRPr>
            </a:pPr>
            <a:r>
              <a:rPr>
                <a:latin typeface="Times New Roman"/>
              </a:rPr>
              <a:t>• Ventas por día, semana o mes.</a:t>
            </a:r>
            <a:br/>
            <a:r>
              <a:rPr>
                <a:latin typeface="Times New Roman"/>
              </a:rPr>
              <a:t>• Productos más vendidos.</a:t>
            </a:r>
            <a:br/>
            <a:r>
              <a:rPr>
                <a:latin typeface="Times New Roman"/>
              </a:rPr>
              <a:t>• Productos con menor movimiento.</a:t>
            </a:r>
            <a:br/>
            <a:r>
              <a:rPr>
                <a:latin typeface="Times New Roman"/>
              </a:rPr>
              <a:t>• Estado del inventario.</a:t>
            </a:r>
            <a:br/>
            <a:r>
              <a:rPr>
                <a:latin typeface="Times New Roman"/>
              </a:rPr>
              <a:t>• Indicadores y tablas.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70832" y="278892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370832" y="2788920"/>
            <a:ext cx="64008" cy="2240280"/>
          </a:xfrm>
          <a:prstGeom prst="rect">
            <a:avLst/>
          </a:prstGeom>
          <a:solidFill>
            <a:srgbClr val="D3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53712" y="2935224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772B4D"/>
                </a:solidFill>
                <a:latin typeface="Times New Roman"/>
              </a:defRPr>
            </a:pPr>
            <a:r>
              <a:rPr>
                <a:latin typeface="Times New Roman"/>
              </a:rPr>
              <a:t>Resultados esperados</a:t>
            </a:r>
          </a:p>
          <a:p>
            <a:pPr>
              <a:defRPr sz="1300">
                <a:solidFill>
                  <a:srgbClr val="3A2D33"/>
                </a:solidFill>
                <a:latin typeface="Times New Roman"/>
              </a:defRPr>
            </a:pPr>
            <a:r>
              <a:rPr>
                <a:latin typeface="Times New Roman"/>
              </a:rPr>
              <a:t>• Mejor organización de datos.</a:t>
            </a:r>
            <a:br/>
            <a:r>
              <a:rPr>
                <a:latin typeface="Times New Roman"/>
              </a:rPr>
              <a:t>• Análisis estadístico.</a:t>
            </a:r>
            <a:br/>
            <a:r>
              <a:rPr>
                <a:latin typeface="Times New Roman"/>
              </a:rPr>
              <a:t>• Visualización clara.</a:t>
            </a:r>
            <a:br/>
            <a:r>
              <a:rPr>
                <a:latin typeface="Times New Roman"/>
              </a:rPr>
              <a:t>• Identificación de riesgos de stock.</a:t>
            </a:r>
            <a:br/>
            <a:r>
              <a:rPr>
                <a:latin typeface="Times New Roman"/>
              </a:rPr>
              <a:t>• Apoyo a decisiones.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1583" y="278892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101583" y="2788920"/>
            <a:ext cx="64008" cy="2240280"/>
          </a:xfrm>
          <a:prstGeom prst="rect">
            <a:avLst/>
          </a:prstGeom>
          <a:solidFill>
            <a:srgbClr val="D3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84463" y="2935224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772B4D"/>
                </a:solidFill>
                <a:latin typeface="Times New Roman"/>
              </a:defRPr>
            </a:pPr>
            <a:r>
              <a:rPr>
                <a:latin typeface="Times New Roman"/>
              </a:rPr>
              <a:t>Factibilidad</a:t>
            </a:r>
          </a:p>
          <a:p>
            <a:pPr>
              <a:defRPr sz="1300">
                <a:solidFill>
                  <a:srgbClr val="3A2D33"/>
                </a:solidFill>
                <a:latin typeface="Times New Roman"/>
              </a:defRPr>
            </a:pPr>
            <a:r>
              <a:rPr>
                <a:latin typeface="Times New Roman"/>
              </a:rPr>
              <a:t>El proyecto puede desarrollarse por etapas: primero registro, base de datos y análisis básico; luego dashboard, alertas y funciones más avanzadas.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E5B63"/>
                </a:solidFill>
                <a:latin typeface="Times New Roman"/>
              </a:defRPr>
            </a:pPr>
            <a:r>
              <a:rPr>
                <a:latin typeface="Times New Roman"/>
              </a:rPr>
              <a:t>Mayorista Smart  •  Smart Solutions                                           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772B4D"/>
                </a:solidFill>
                <a:latin typeface="Times New Roman"/>
              </a:defRPr>
            </a:pPr>
            <a:r>
              <a:rPr>
                <a:latin typeface="Times New Roman"/>
              </a:rPr>
              <a:t>5. Conclusión y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E5B63"/>
                </a:solidFill>
                <a:latin typeface="Times New Roman"/>
              </a:defRPr>
            </a:pPr>
            <a:r>
              <a:rPr>
                <a:latin typeface="Times New Roman"/>
              </a:rPr>
              <a:t>Una propuesta orientada a datos para un negocio mayorista.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66294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64008" cy="1920240"/>
          </a:xfrm>
          <a:prstGeom prst="rect">
            <a:avLst/>
          </a:prstGeom>
          <a:solidFill>
            <a:srgbClr val="D3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72184"/>
            <a:ext cx="63093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772B4D"/>
                </a:solidFill>
                <a:latin typeface="Times New Roman"/>
              </a:defRPr>
            </a:pPr>
            <a:r>
              <a:rPr>
                <a:latin typeface="Times New Roman"/>
              </a:rPr>
              <a:t>Conclusión</a:t>
            </a:r>
          </a:p>
          <a:p>
            <a:pPr>
              <a:defRPr sz="1400">
                <a:solidFill>
                  <a:srgbClr val="3A2D33"/>
                </a:solidFill>
                <a:latin typeface="Times New Roman"/>
              </a:defRPr>
            </a:pPr>
            <a:r>
              <a:rPr>
                <a:latin typeface="Times New Roman"/>
              </a:rPr>
              <a:t>Mayorista Smart busca que los datos de ventas e inventario no se queden solamente almacenados. Al aplicar Probabilidad y Estadística y utilizar Apache Superset, se pueden convertir en información visual que facilite comprender el negocio y apoyar decisiones.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71231" y="1325880"/>
            <a:ext cx="38862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571231" y="1325880"/>
            <a:ext cx="64008" cy="1920240"/>
          </a:xfrm>
          <a:prstGeom prst="rect">
            <a:avLst/>
          </a:prstGeom>
          <a:solidFill>
            <a:srgbClr val="D3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54111" y="1472184"/>
            <a:ext cx="3566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772B4D"/>
                </a:solidFill>
                <a:latin typeface="Times New Roman"/>
              </a:defRPr>
            </a:pPr>
            <a:r>
              <a:rPr>
                <a:latin typeface="Times New Roman"/>
              </a:rPr>
              <a:t>Valor de la propuesta</a:t>
            </a:r>
          </a:p>
          <a:p>
            <a:pPr>
              <a:defRPr sz="1300">
                <a:solidFill>
                  <a:srgbClr val="3A2D33"/>
                </a:solidFill>
                <a:latin typeface="Times New Roman"/>
              </a:defRPr>
            </a:pPr>
            <a:r>
              <a:rPr>
                <a:latin typeface="Times New Roman"/>
              </a:rPr>
              <a:t>• Responde a una necesidad real.</a:t>
            </a:r>
            <a:br/>
            <a:r>
              <a:rPr>
                <a:latin typeface="Times New Roman"/>
              </a:rPr>
              <a:t>• Integra sistema + datos + estadística.</a:t>
            </a:r>
            <a:br/>
            <a:r>
              <a:rPr>
                <a:latin typeface="Times New Roman"/>
              </a:rPr>
              <a:t>• Facilita el análisis.</a:t>
            </a:r>
            <a:br/>
            <a:r>
              <a:rPr>
                <a:latin typeface="Times New Roman"/>
              </a:rPr>
              <a:t>• Puede crecer por etapas.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584448"/>
            <a:ext cx="51663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3584448"/>
            <a:ext cx="64008" cy="1600200"/>
          </a:xfrm>
          <a:prstGeom prst="rect">
            <a:avLst/>
          </a:prstGeom>
          <a:solidFill>
            <a:srgbClr val="D3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730752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772B4D"/>
                </a:solidFill>
                <a:latin typeface="Times New Roman"/>
              </a:defRPr>
            </a:pPr>
            <a:r>
              <a:rPr>
                <a:latin typeface="Times New Roman"/>
              </a:rPr>
              <a:t>Plan de trabajo</a:t>
            </a:r>
          </a:p>
          <a:p>
            <a:pPr>
              <a:defRPr sz="1300">
                <a:solidFill>
                  <a:srgbClr val="3A2D33"/>
                </a:solidFill>
                <a:latin typeface="Times New Roman"/>
              </a:defRPr>
            </a:pPr>
            <a:r>
              <a:rPr>
                <a:latin typeface="Times New Roman"/>
              </a:rPr>
              <a:t>Investigación → requisitos → diseño → desarrollo → análisis estadístico → Superset → pruebas → documentación → defensa.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584448"/>
            <a:ext cx="533095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26480" y="3584448"/>
            <a:ext cx="64008" cy="1600200"/>
          </a:xfrm>
          <a:prstGeom prst="rect">
            <a:avLst/>
          </a:prstGeom>
          <a:solidFill>
            <a:srgbClr val="D3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3730752"/>
            <a:ext cx="50109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772B4D"/>
                </a:solidFill>
                <a:latin typeface="Times New Roman"/>
              </a:defRPr>
            </a:pPr>
            <a:r>
              <a:rPr>
                <a:latin typeface="Times New Roman"/>
              </a:rPr>
              <a:t>Equipo Smart Solutions</a:t>
            </a:r>
          </a:p>
          <a:p>
            <a:pPr>
              <a:defRPr sz="1400">
                <a:solidFill>
                  <a:srgbClr val="3A2D33"/>
                </a:solidFill>
                <a:latin typeface="Times New Roman"/>
              </a:defRPr>
            </a:pPr>
            <a:r>
              <a:rPr>
                <a:latin typeface="Times New Roman"/>
              </a:rPr>
              <a:t>Brisa Desireé Ugarte Rocabado</a:t>
            </a:r>
            <a:br/>
            <a:r>
              <a:rPr>
                <a:latin typeface="Times New Roman"/>
              </a:rPr>
              <a:t>Ariel Montaño Buezo</a:t>
            </a:r>
            <a:br/>
            <a:r>
              <a:rPr>
                <a:latin typeface="Times New Roman"/>
              </a:rPr>
              <a:t>Erick Abimael Quispe Miranda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5577840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772B4D"/>
                </a:solidFill>
                <a:latin typeface="Times New Roman"/>
              </a:defRPr>
            </a:pPr>
            <a:r>
              <a:rPr>
                <a:latin typeface="Times New Roman"/>
              </a:rPr>
              <a:t>GRACIAS POR SU ATENCIÓN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E5B63"/>
                </a:solidFill>
                <a:latin typeface="Times New Roman"/>
              </a:defRPr>
            </a:pPr>
            <a:r>
              <a:rPr>
                <a:latin typeface="Times New Roman"/>
              </a:rPr>
              <a:t>Mayorista Smart  •  Smart Solutions                                           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748</Words>
  <Application>Microsoft Office PowerPoint</Application>
  <PresentationFormat>Panorámica</PresentationFormat>
  <Paragraphs>73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Brisa Ugarte</cp:lastModifiedBy>
  <cp:revision>2</cp:revision>
  <dcterms:created xsi:type="dcterms:W3CDTF">2013-01-27T09:14:16Z</dcterms:created>
  <dcterms:modified xsi:type="dcterms:W3CDTF">2026-10-08T16:19:07Z</dcterms:modified>
  <cp:category/>
</cp:coreProperties>
</file>